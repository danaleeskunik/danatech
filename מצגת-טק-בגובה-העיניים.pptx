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E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60720" y="1280160"/>
            <a:ext cx="127000" cy="203200"/>
          </a:xfrm>
          <a:prstGeom prst="roundRect">
            <a:avLst>
              <a:gd name="adj" fmla="val 30000"/>
            </a:avLst>
          </a:prstGeom>
          <a:solidFill>
            <a:srgbClr val="9CC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38520" y="1165860"/>
            <a:ext cx="127000" cy="317500"/>
          </a:xfrm>
          <a:prstGeom prst="roundRect">
            <a:avLst>
              <a:gd name="adj" fmla="val 30000"/>
            </a:avLst>
          </a:prstGeom>
          <a:solidFill>
            <a:srgbClr val="3D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16320" y="1051560"/>
            <a:ext cx="127000" cy="431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3172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5400" b="1" i="0">
                <a:solidFill>
                  <a:srgbClr val="FFFFFF"/>
                </a:solidFill>
                <a:latin typeface="Rubik"/>
                <a:cs typeface="Rubik"/>
              </a:rPr>
              <a:t>טק בגובה העיניים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29000"/>
            <a:ext cx="94457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600" b="0" i="0">
                <a:solidFill>
                  <a:srgbClr val="9CC7F5"/>
                </a:solidFill>
                <a:latin typeface="Rubik"/>
                <a:cs typeface="Rubik"/>
              </a:rPr>
              <a:t>שיעורי טכנולוגיה בבית שלכם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120640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000" b="1" i="0">
                <a:solidFill>
                  <a:srgbClr val="FFFFFF"/>
                </a:solidFill>
                <a:latin typeface="Rubik"/>
                <a:cs typeface="Rubik"/>
              </a:rPr>
              <a:t>דנה קוניק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/>
            <a:r>
              <a:rPr sz="3800" b="1" i="0">
                <a:solidFill>
                  <a:srgbClr val="0F2E52"/>
                </a:solidFill>
                <a:latin typeface="Rubik"/>
                <a:cs typeface="Rubik"/>
              </a:rPr>
              <a:t>מכירים את זה?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83480" y="1645920"/>
            <a:ext cx="777240" cy="777240"/>
          </a:xfrm>
          <a:prstGeom prst="ellipse">
            <a:avLst/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977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700" b="1" i="0">
                <a:solidFill>
                  <a:srgbClr val="121213"/>
                </a:solidFill>
                <a:latin typeface="Rubik"/>
                <a:cs typeface="Rubik"/>
              </a:rPr>
              <a:t>הסמארטפון מבלבל — לא ברור מה כל כפתור עושה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645920"/>
            <a:ext cx="777240" cy="777240"/>
          </a:xfrm>
          <a:prstGeom prst="ellipse">
            <a:avLst/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3977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700" b="1" i="0">
                <a:solidFill>
                  <a:srgbClr val="121213"/>
                </a:solidFill>
                <a:latin typeface="Rubik"/>
                <a:cs typeface="Rubik"/>
              </a:rPr>
              <a:t>רוצים לראות את הנכדים בווידאו, ולא יודעים איך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83480" y="3337560"/>
            <a:ext cx="777240" cy="777240"/>
          </a:xfrm>
          <a:prstGeom prst="ellipse">
            <a:avLst/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3977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700" b="1" i="0">
                <a:solidFill>
                  <a:srgbClr val="121213"/>
                </a:solidFill>
                <a:latin typeface="Rubik"/>
                <a:cs typeface="Rubik"/>
              </a:rPr>
              <a:t>רוצים להזמין תרופות מהבית, בלי לצאת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10896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0" y="3337560"/>
            <a:ext cx="777240" cy="777240"/>
          </a:xfrm>
          <a:prstGeom prst="ellipse">
            <a:avLst/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246120"/>
            <a:ext cx="3977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700" b="1" i="0">
                <a:solidFill>
                  <a:srgbClr val="121213"/>
                </a:solidFill>
                <a:latin typeface="Rubik"/>
                <a:cs typeface="Rubik"/>
              </a:rPr>
              <a:t>קיבלתם תור בקופת חולים, ולא ידעתם איך לאשר אותו באתר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00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83480" y="5029200"/>
            <a:ext cx="777240" cy="777240"/>
          </a:xfrm>
          <a:prstGeom prst="ellipse">
            <a:avLst/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37760"/>
            <a:ext cx="3977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700" b="1" i="0">
                <a:solidFill>
                  <a:srgbClr val="121213"/>
                </a:solidFill>
                <a:latin typeface="Rubik"/>
                <a:cs typeface="Rubik"/>
              </a:rPr>
              <a:t>קיבלתם הודעה מוזרה וחששתם שזו הונאה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800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0" y="5029200"/>
            <a:ext cx="777240" cy="777240"/>
          </a:xfrm>
          <a:prstGeom prst="ellipse">
            <a:avLst/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3977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700" b="1" i="0">
                <a:solidFill>
                  <a:srgbClr val="121213"/>
                </a:solidFill>
                <a:latin typeface="Rubik"/>
                <a:cs typeface="Rubik"/>
              </a:rPr>
              <a:t>רוצים לראות תמונות שהמשפחה שולחת, ולא מוצאים איך</a:t>
            </a:r>
          </a:p>
        </p:txBody>
      </p:sp>
      <p:pic>
        <p:nvPicPr>
          <p:cNvPr id="21" name="Picture 20" descr="smart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790" y="1840230"/>
            <a:ext cx="388620" cy="388620"/>
          </a:xfrm>
          <a:prstGeom prst="rect">
            <a:avLst/>
          </a:prstGeom>
        </p:spPr>
      </p:pic>
      <p:pic>
        <p:nvPicPr>
          <p:cNvPr id="22" name="Picture 21" descr="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1350" y="1840230"/>
            <a:ext cx="388620" cy="388620"/>
          </a:xfrm>
          <a:prstGeom prst="rect">
            <a:avLst/>
          </a:prstGeom>
        </p:spPr>
      </p:pic>
      <p:pic>
        <p:nvPicPr>
          <p:cNvPr id="23" name="Picture 22" descr="p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7790" y="3531870"/>
            <a:ext cx="388620" cy="388620"/>
          </a:xfrm>
          <a:prstGeom prst="rect">
            <a:avLst/>
          </a:prstGeom>
        </p:spPr>
      </p:pic>
      <p:pic>
        <p:nvPicPr>
          <p:cNvPr id="24" name="Picture 23" descr="hospi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1350" y="3531870"/>
            <a:ext cx="388620" cy="388620"/>
          </a:xfrm>
          <a:prstGeom prst="rect">
            <a:avLst/>
          </a:prstGeom>
        </p:spPr>
      </p:pic>
      <p:pic>
        <p:nvPicPr>
          <p:cNvPr id="25" name="Picture 24" descr="warn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7790" y="5223510"/>
            <a:ext cx="388620" cy="388620"/>
          </a:xfrm>
          <a:prstGeom prst="rect">
            <a:avLst/>
          </a:prstGeom>
        </p:spPr>
      </p:pic>
      <p:pic>
        <p:nvPicPr>
          <p:cNvPr id="26" name="Picture 25" descr="camer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01350" y="5223510"/>
            <a:ext cx="388620" cy="3886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E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0152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4800" b="1" i="0">
                <a:solidFill>
                  <a:srgbClr val="FFFFFF"/>
                </a:solidFill>
                <a:latin typeface="Rubik"/>
                <a:cs typeface="Rubik"/>
              </a:rPr>
              <a:t>אני באה אליכם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834640"/>
            <a:ext cx="94457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600" b="0" i="0">
                <a:solidFill>
                  <a:srgbClr val="9CC7F5"/>
                </a:solidFill>
                <a:latin typeface="Rubik"/>
                <a:cs typeface="Rubik"/>
              </a:rPr>
              <a:t>הבית שלכם — לא מרפאה ולא כיתה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703320"/>
            <a:ext cx="94457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600" b="0" i="0">
                <a:solidFill>
                  <a:srgbClr val="9CC7F5"/>
                </a:solidFill>
                <a:latin typeface="Rubik"/>
                <a:cs typeface="Rubik"/>
              </a:rPr>
              <a:t>בקצב שלכם, בלי לחץ ובלי שיפוט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57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600" b="0" i="0">
                <a:solidFill>
                  <a:srgbClr val="9CC7F5"/>
                </a:solidFill>
                <a:latin typeface="Rubik"/>
                <a:cs typeface="Rubik"/>
              </a:rPr>
              <a:t>חוזרים על כל דבר כמה פעמים שצריך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/>
            <a:r>
              <a:rPr sz="4000" b="1" i="0">
                <a:solidFill>
                  <a:srgbClr val="0F2E52"/>
                </a:solidFill>
                <a:latin typeface="Rubik"/>
                <a:cs typeface="Rubik"/>
              </a:rPr>
              <a:t>מה לומדים איתי?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20640" y="178308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סמארטפון בסיסי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פתיחת אפליקציות, שיחות והודעות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44200" y="178308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וידאו-שיחות עם המשפחה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רואים ומדברים עם הנכדים, בלי לחץ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20640" y="310896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תמונות ואחסון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מצלמים, שומרים ומוצאים תמונות בקלות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8803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44200" y="310896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88036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גלישה וחיפוש בטוח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מוצאים מידע באינטרנט בביטחון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0624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20640" y="443484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אפליקציית קופת חולים ותרופות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תורים, מרשמים והזמנת תרופות מהבית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20624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44200" y="443484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20624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זהירות מהונאות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מזהים הודעות ושיחות חשודות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3212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20640" y="576072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3212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בינה מלאכותית (AI) בסיסי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היכרות ראשונה עם כלים כמו ChatGPT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553212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44200" y="5760720"/>
            <a:ext cx="640080" cy="640080"/>
          </a:xfrm>
          <a:prstGeom prst="ellipse">
            <a:avLst/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5532120"/>
            <a:ext cx="4114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rtl="1"/>
            <a:r>
              <a:rPr sz="1500" b="1" i="0">
                <a:solidFill>
                  <a:srgbClr val="121213"/>
                </a:solidFill>
                <a:latin typeface="Rubik"/>
                <a:cs typeface="Rubik"/>
              </a:rPr>
              <a:t>ועוד, לפי מה שמעניין אתכם</a:t>
            </a:r>
          </a:p>
          <a:p>
            <a:pPr algn="r" rtl="1"/>
            <a:r>
              <a:rPr sz="1050" b="0">
                <a:solidFill>
                  <a:srgbClr val="6A6D70"/>
                </a:solidFill>
              </a:rPr>
              <a:t>מתאימים את השיעור בדיוק אליכם</a:t>
            </a:r>
          </a:p>
        </p:txBody>
      </p:sp>
      <p:pic>
        <p:nvPicPr>
          <p:cNvPr id="27" name="Picture 26" descr="smart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60" y="1943100"/>
            <a:ext cx="320040" cy="320040"/>
          </a:xfrm>
          <a:prstGeom prst="rect">
            <a:avLst/>
          </a:prstGeom>
        </p:spPr>
      </p:pic>
      <p:pic>
        <p:nvPicPr>
          <p:cNvPr id="28" name="Picture 27" descr="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220" y="1943100"/>
            <a:ext cx="320040" cy="320040"/>
          </a:xfrm>
          <a:prstGeom prst="rect">
            <a:avLst/>
          </a:prstGeom>
        </p:spPr>
      </p:pic>
      <p:pic>
        <p:nvPicPr>
          <p:cNvPr id="29" name="Picture 28" descr="cam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0660" y="3268980"/>
            <a:ext cx="320040" cy="320040"/>
          </a:xfrm>
          <a:prstGeom prst="rect">
            <a:avLst/>
          </a:prstGeom>
        </p:spPr>
      </p:pic>
      <p:pic>
        <p:nvPicPr>
          <p:cNvPr id="30" name="Picture 29" descr="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4220" y="3268980"/>
            <a:ext cx="320040" cy="320040"/>
          </a:xfrm>
          <a:prstGeom prst="rect">
            <a:avLst/>
          </a:prstGeom>
        </p:spPr>
      </p:pic>
      <p:pic>
        <p:nvPicPr>
          <p:cNvPr id="31" name="Picture 30" descr="hospi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0660" y="4594860"/>
            <a:ext cx="320040" cy="320040"/>
          </a:xfrm>
          <a:prstGeom prst="rect">
            <a:avLst/>
          </a:prstGeom>
        </p:spPr>
      </p:pic>
      <p:pic>
        <p:nvPicPr>
          <p:cNvPr id="32" name="Picture 31" descr="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04220" y="4594860"/>
            <a:ext cx="320040" cy="320040"/>
          </a:xfrm>
          <a:prstGeom prst="rect">
            <a:avLst/>
          </a:prstGeom>
        </p:spPr>
      </p:pic>
      <p:pic>
        <p:nvPicPr>
          <p:cNvPr id="33" name="Picture 32" descr="rob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0660" y="5920740"/>
            <a:ext cx="320040" cy="320040"/>
          </a:xfrm>
          <a:prstGeom prst="rect">
            <a:avLst/>
          </a:prstGeom>
        </p:spPr>
      </p:pic>
      <p:pic>
        <p:nvPicPr>
          <p:cNvPr id="34" name="Picture 33" descr="pl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04220" y="59207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E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0152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5600" b="1" i="0">
                <a:solidFill>
                  <a:srgbClr val="FFFFFF"/>
                </a:solidFill>
                <a:latin typeface="Rubik"/>
                <a:cs typeface="Rubik"/>
              </a:rPr>
              <a:t>בגובה העיניים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88920"/>
            <a:ext cx="94457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400" b="0" i="0">
                <a:solidFill>
                  <a:srgbClr val="9CC7F5"/>
                </a:solidFill>
                <a:latin typeface="Rubik"/>
                <a:cs typeface="Rubik"/>
              </a:rPr>
              <a:t>בלי ז'רגון. בלי למהר. איפה שאתם נמצאים.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6647" y="4206240"/>
            <a:ext cx="3108960" cy="1188720"/>
          </a:xfrm>
          <a:prstGeom prst="roundRect">
            <a:avLst>
              <a:gd name="adj" fmla="val 50000"/>
            </a:avLst>
          </a:prstGeom>
          <a:solidFill>
            <a:srgbClr val="0B223D"/>
          </a:solidFill>
          <a:ln w="19050">
            <a:solidFill>
              <a:srgbClr val="3D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2800" b="1">
                <a:solidFill>
                  <a:srgbClr val="FFFFFF"/>
                </a:solidFill>
                <a:latin typeface="Rubik"/>
                <a:cs typeface="Rubik"/>
              </a:rPr>
              <a:t>סבלנות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1367" y="4206240"/>
            <a:ext cx="3108960" cy="1188720"/>
          </a:xfrm>
          <a:prstGeom prst="roundRect">
            <a:avLst>
              <a:gd name="adj" fmla="val 50000"/>
            </a:avLst>
          </a:prstGeom>
          <a:solidFill>
            <a:srgbClr val="0B223D"/>
          </a:solidFill>
          <a:ln w="19050">
            <a:solidFill>
              <a:srgbClr val="3D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2800" b="1">
                <a:solidFill>
                  <a:srgbClr val="FFFFFF"/>
                </a:solidFill>
                <a:latin typeface="Rubik"/>
                <a:cs typeface="Rubik"/>
              </a:rPr>
              <a:t>כבוד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6087" y="4206240"/>
            <a:ext cx="3108960" cy="1188720"/>
          </a:xfrm>
          <a:prstGeom prst="roundRect">
            <a:avLst>
              <a:gd name="adj" fmla="val 50000"/>
            </a:avLst>
          </a:prstGeom>
          <a:solidFill>
            <a:srgbClr val="0B223D"/>
          </a:solidFill>
          <a:ln w="19050">
            <a:solidFill>
              <a:srgbClr val="3D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2800" b="1">
                <a:solidFill>
                  <a:srgbClr val="FFFFFF"/>
                </a:solidFill>
                <a:latin typeface="Rubik"/>
                <a:cs typeface="Rubik"/>
              </a:rPr>
              <a:t>הקשבה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/>
            <a:r>
              <a:rPr sz="4000" b="1" i="0">
                <a:solidFill>
                  <a:srgbClr val="0F2E52"/>
                </a:solidFill>
                <a:latin typeface="Rubik"/>
                <a:cs typeface="Rubik"/>
              </a:rPr>
              <a:t>בואו נתחיל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/>
            <a:r>
              <a:rPr sz="2200" b="0" i="0">
                <a:solidFill>
                  <a:srgbClr val="6A6D70"/>
                </a:solidFill>
                <a:latin typeface="Rubik"/>
                <a:cs typeface="Rubik"/>
              </a:rPr>
              <a:t>שיחת היכרות קצרה וללא התחייבות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4248" y="2514600"/>
            <a:ext cx="8229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1"/>
            </a:solidFill>
          </a:ln>
          <a:effectLst>
            <a:outerShdw blurRad="114300" dist="25400" dir="5400000" rotWithShape="0">
              <a:srgbClr val="0F2E52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41848" y="2788920"/>
            <a:ext cx="914400" cy="914400"/>
          </a:xfrm>
          <a:prstGeom prst="ellipse">
            <a:avLst/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41448" y="3794760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200" b="1" i="0">
                <a:solidFill>
                  <a:srgbClr val="121213"/>
                </a:solidFill>
                <a:latin typeface="Rubik"/>
                <a:cs typeface="Rubik"/>
              </a:rPr>
              <a:t>דנה קוניק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1448" y="4251960"/>
            <a:ext cx="7315200" cy="594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3600" b="1">
                <a:solidFill>
                  <a:srgbClr val="0F2E52"/>
                </a:solidFill>
                <a:latin typeface="Heebo"/>
                <a:cs typeface="Heebo"/>
              </a:rPr>
              <a:t>053-700-4934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4892040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1800" b="0" i="0">
                <a:solidFill>
                  <a:srgbClr val="6A6D70"/>
                </a:solidFill>
                <a:latin typeface="Rubik"/>
                <a:cs typeface="Rubik"/>
              </a:rPr>
              <a:t>בטלפון או בוואטסאפ</a:t>
            </a:r>
          </a:p>
        </p:txBody>
      </p:sp>
      <p:pic>
        <p:nvPicPr>
          <p:cNvPr id="9" name="Picture 8" descr="phone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301752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E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60720" y="2148840"/>
            <a:ext cx="127000" cy="203200"/>
          </a:xfrm>
          <a:prstGeom prst="roundRect">
            <a:avLst>
              <a:gd name="adj" fmla="val 30000"/>
            </a:avLst>
          </a:prstGeom>
          <a:solidFill>
            <a:srgbClr val="9CC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38520" y="2034540"/>
            <a:ext cx="127000" cy="317500"/>
          </a:xfrm>
          <a:prstGeom prst="roundRect">
            <a:avLst>
              <a:gd name="adj" fmla="val 30000"/>
            </a:avLst>
          </a:prstGeom>
          <a:solidFill>
            <a:srgbClr val="3D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16320" y="1920240"/>
            <a:ext cx="127000" cy="431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60152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5600" b="1" i="0">
                <a:solidFill>
                  <a:srgbClr val="FFFFFF"/>
                </a:solidFill>
                <a:latin typeface="Rubik"/>
                <a:cs typeface="Rubik"/>
              </a:rPr>
              <a:t>תודה!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43400"/>
            <a:ext cx="944575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/>
            <a:r>
              <a:rPr sz="2200" b="0" i="0">
                <a:solidFill>
                  <a:srgbClr val="9CC7F5"/>
                </a:solidFill>
                <a:latin typeface="Rubik"/>
                <a:cs typeface="Rubik"/>
              </a:rPr>
              <a:t>טק בגובה העיניים · דנה קוניק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