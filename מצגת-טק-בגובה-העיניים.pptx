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E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60720" y="1280160"/>
            <a:ext cx="127000" cy="203200"/>
          </a:xfrm>
          <a:prstGeom prst="roundRect">
            <a:avLst>
              <a:gd name="adj" fmla="val 30000"/>
            </a:avLst>
          </a:prstGeom>
          <a:solidFill>
            <a:srgbClr val="9CC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38520" y="1165860"/>
            <a:ext cx="127000" cy="317500"/>
          </a:xfrm>
          <a:prstGeom prst="roundRect">
            <a:avLst>
              <a:gd name="adj" fmla="val 30000"/>
            </a:avLst>
          </a:prstGeom>
          <a:solidFill>
            <a:srgbClr val="3D9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16320" y="1051560"/>
            <a:ext cx="127000" cy="4318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331720"/>
            <a:ext cx="9445752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rtl="1"/>
            <a:r>
              <a:rPr sz="5400" b="1" i="0">
                <a:solidFill>
                  <a:srgbClr val="FFFFFF"/>
                </a:solidFill>
                <a:latin typeface="Rubik"/>
              </a:rPr>
              <a:t>טק בגובה העיניים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29000"/>
            <a:ext cx="9445752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rtl="1"/>
            <a:r>
              <a:rPr sz="2600" b="0" i="0">
                <a:solidFill>
                  <a:srgbClr val="9CC7F5"/>
                </a:solidFill>
                <a:latin typeface="Rubik"/>
              </a:rPr>
              <a:t>שיעורי טכנולוגיה בבית שלכם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120640"/>
            <a:ext cx="9445752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rtl="1"/>
            <a:r>
              <a:rPr sz="2000" b="1" i="0">
                <a:solidFill>
                  <a:srgbClr val="FFFFFF"/>
                </a:solidFill>
                <a:latin typeface="Rubik"/>
              </a:rPr>
              <a:t>דנה קוניק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3800" b="1" i="0">
                <a:solidFill>
                  <a:srgbClr val="0F2E52"/>
                </a:solidFill>
                <a:latin typeface="Rubik"/>
              </a:rPr>
              <a:t>מכירים את זה?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5349240" cy="141732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E4EA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983480" y="1645920"/>
            <a:ext cx="777240" cy="777240"/>
          </a:xfrm>
          <a:prstGeom prst="ellipse">
            <a:avLst/>
          </a:prstGeom>
          <a:solidFill>
            <a:srgbClr val="EA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/>
              <a:t>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977640" cy="1143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/>
            <a:r>
              <a:rPr sz="1700" b="1" i="0">
                <a:solidFill>
                  <a:srgbClr val="121213"/>
                </a:solidFill>
                <a:latin typeface="Rubik"/>
              </a:rPr>
              <a:t>הסמארטפון מבלבל — לא ברור מה כל כפתור עושה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417320"/>
            <a:ext cx="5349240" cy="141732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E4EA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07040" y="1645920"/>
            <a:ext cx="777240" cy="777240"/>
          </a:xfrm>
          <a:prstGeom prst="ellipse">
            <a:avLst/>
          </a:prstGeom>
          <a:solidFill>
            <a:srgbClr val="EA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/>
              <a:t>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554480"/>
            <a:ext cx="3977640" cy="1143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/>
            <a:r>
              <a:rPr sz="1700" b="1" i="0">
                <a:solidFill>
                  <a:srgbClr val="121213"/>
                </a:solidFill>
                <a:latin typeface="Rubik"/>
              </a:rPr>
              <a:t>רוצים לראות את הנכדים בווידאו, ולא יודעים איך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08960"/>
            <a:ext cx="5349240" cy="141732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E4EA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983480" y="3337560"/>
            <a:ext cx="777240" cy="777240"/>
          </a:xfrm>
          <a:prstGeom prst="ellipse">
            <a:avLst/>
          </a:prstGeom>
          <a:solidFill>
            <a:srgbClr val="EA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/>
              <a:t>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3977640" cy="1143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/>
            <a:r>
              <a:rPr sz="1700" b="1" i="0">
                <a:solidFill>
                  <a:srgbClr val="121213"/>
                </a:solidFill>
                <a:latin typeface="Rubik"/>
              </a:rPr>
              <a:t>רוצים להזמין תרופות מהבית, בלי לצאת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108960"/>
            <a:ext cx="5349240" cy="141732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E4EA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07040" y="3337560"/>
            <a:ext cx="777240" cy="777240"/>
          </a:xfrm>
          <a:prstGeom prst="ellipse">
            <a:avLst/>
          </a:prstGeom>
          <a:solidFill>
            <a:srgbClr val="EA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/>
              <a:t>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246120"/>
            <a:ext cx="3977640" cy="1143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/>
            <a:r>
              <a:rPr sz="1700" b="1" i="0">
                <a:solidFill>
                  <a:srgbClr val="121213"/>
                </a:solidFill>
                <a:latin typeface="Rubik"/>
              </a:rPr>
              <a:t>קיבלתם תור בקופת חולים, ולא ידעתם איך לאשר אותו באתר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800600"/>
            <a:ext cx="5349240" cy="141732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E4EA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983480" y="5029200"/>
            <a:ext cx="777240" cy="777240"/>
          </a:xfrm>
          <a:prstGeom prst="ellipse">
            <a:avLst/>
          </a:prstGeom>
          <a:solidFill>
            <a:srgbClr val="EA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/>
              <a:t>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37760"/>
            <a:ext cx="3977640" cy="1143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/>
            <a:r>
              <a:rPr sz="1700" b="1" i="0">
                <a:solidFill>
                  <a:srgbClr val="121213"/>
                </a:solidFill>
                <a:latin typeface="Rubik"/>
              </a:rPr>
              <a:t>קיבלתם הודעה מוזרה וחששתם שזו הונאה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4800600"/>
            <a:ext cx="5349240" cy="141732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E4EA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607040" y="5029200"/>
            <a:ext cx="777240" cy="777240"/>
          </a:xfrm>
          <a:prstGeom prst="ellipse">
            <a:avLst/>
          </a:prstGeom>
          <a:solidFill>
            <a:srgbClr val="EA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/>
              <a:t>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937760"/>
            <a:ext cx="3977640" cy="1143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/>
            <a:r>
              <a:rPr sz="1700" b="1" i="0">
                <a:solidFill>
                  <a:srgbClr val="121213"/>
                </a:solidFill>
                <a:latin typeface="Rubik"/>
              </a:rPr>
              <a:t>רוצים לראות תמונות שהמשפחה שולחת, ולא מוצאים איך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E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0152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rtl="1"/>
            <a:r>
              <a:rPr sz="4800" b="1" i="0">
                <a:solidFill>
                  <a:srgbClr val="FFFFFF"/>
                </a:solidFill>
                <a:latin typeface="Rubik"/>
              </a:rPr>
              <a:t>אני באה אליכם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834640"/>
            <a:ext cx="9445752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rtl="1"/>
            <a:r>
              <a:rPr sz="2600" b="0" i="0">
                <a:solidFill>
                  <a:srgbClr val="9CC7F5"/>
                </a:solidFill>
                <a:latin typeface="Rubik"/>
              </a:rPr>
              <a:t>הבית שלכם — לא מרפאה ולא כיתה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703320"/>
            <a:ext cx="9445752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rtl="1"/>
            <a:r>
              <a:rPr sz="2600" b="0" i="0">
                <a:solidFill>
                  <a:srgbClr val="9CC7F5"/>
                </a:solidFill>
                <a:latin typeface="Rubik"/>
              </a:rPr>
              <a:t>בקצב שלכם, בלי לחץ ובלי שיפוט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445752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rtl="1"/>
            <a:r>
              <a:rPr sz="2600" b="0" i="0">
                <a:solidFill>
                  <a:srgbClr val="9CC7F5"/>
                </a:solidFill>
                <a:latin typeface="Rubik"/>
              </a:rPr>
              <a:t>חוזרים על כל דבר כמה פעמים שצריך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4000" b="1" i="0">
                <a:solidFill>
                  <a:srgbClr val="0F2E52"/>
                </a:solidFill>
                <a:latin typeface="Rubik"/>
              </a:rPr>
              <a:t>מה לומדים איתי?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E4EA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20640" y="178308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/>
              <a:t>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114800" cy="10972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/>
            <a:r>
              <a:rPr sz="1800" b="1" i="0">
                <a:solidFill>
                  <a:srgbClr val="121213"/>
                </a:solidFill>
                <a:latin typeface="Rubik"/>
              </a:rPr>
              <a:t>סמארטפון בסיסי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554480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E4EA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44200" y="178308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/>
              <a:t>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554480"/>
            <a:ext cx="4114800" cy="10972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/>
            <a:r>
              <a:rPr sz="1800" b="1" i="0">
                <a:solidFill>
                  <a:srgbClr val="121213"/>
                </a:solidFill>
                <a:latin typeface="Rubik"/>
              </a:rPr>
              <a:t>וידאו-שיחות עם המשפחה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80360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E4EA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20640" y="310896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/>
              <a:t>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4114800" cy="10972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/>
            <a:r>
              <a:rPr sz="1800" b="1" i="0">
                <a:solidFill>
                  <a:srgbClr val="121213"/>
                </a:solidFill>
                <a:latin typeface="Rubik"/>
              </a:rPr>
              <a:t>תמונות ואחסון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880360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E4EA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44200" y="310896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/>
              <a:t>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880360"/>
            <a:ext cx="4114800" cy="10972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/>
            <a:r>
              <a:rPr sz="1800" b="1" i="0">
                <a:solidFill>
                  <a:srgbClr val="121213"/>
                </a:solidFill>
                <a:latin typeface="Rubik"/>
              </a:rPr>
              <a:t>גלישה וחיפוש בטוח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206240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E4EA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120640" y="443484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/>
              <a:t>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06240"/>
            <a:ext cx="4114800" cy="10972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/>
            <a:r>
              <a:rPr sz="1800" b="1" i="0">
                <a:solidFill>
                  <a:srgbClr val="121213"/>
                </a:solidFill>
                <a:latin typeface="Rubik"/>
              </a:rPr>
              <a:t>אפליקציית קופת חולים ותרופות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4206240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E4EA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744200" y="443484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/>
              <a:t>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206240"/>
            <a:ext cx="4114800" cy="10972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/>
            <a:r>
              <a:rPr sz="1800" b="1" i="0">
                <a:solidFill>
                  <a:srgbClr val="121213"/>
                </a:solidFill>
                <a:latin typeface="Rubik"/>
              </a:rPr>
              <a:t>זהירות מהונאות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532120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E4EA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20640" y="576072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/>
              <a:t>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532120"/>
            <a:ext cx="4114800" cy="10972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/>
            <a:r>
              <a:rPr sz="1800" b="1" i="0">
                <a:solidFill>
                  <a:srgbClr val="121213"/>
                </a:solidFill>
                <a:latin typeface="Rubik"/>
              </a:rPr>
              <a:t>בינה מלאכותית (AI) בסיסי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5532120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EAF2FD"/>
          </a:solidFill>
          <a:ln w="12700">
            <a:solidFill>
              <a:srgbClr val="E4EA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744200" y="576072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/>
              <a:t>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5532120"/>
            <a:ext cx="4114800" cy="10972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/>
            <a:r>
              <a:rPr sz="1800" b="1" i="0">
                <a:solidFill>
                  <a:srgbClr val="121213"/>
                </a:solidFill>
                <a:latin typeface="Rubik"/>
              </a:rPr>
              <a:t>ועוד, לפי מה שמעניין אתכם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E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0152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rtl="1"/>
            <a:r>
              <a:rPr sz="5600" b="1" i="0">
                <a:solidFill>
                  <a:srgbClr val="FFFFFF"/>
                </a:solidFill>
                <a:latin typeface="Rubik"/>
              </a:rPr>
              <a:t>בגובה העיניים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88920"/>
            <a:ext cx="9445752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rtl="1"/>
            <a:r>
              <a:rPr sz="2400" b="0" i="0">
                <a:solidFill>
                  <a:srgbClr val="9CC7F5"/>
                </a:solidFill>
                <a:latin typeface="Rubik"/>
              </a:rPr>
              <a:t>בלי ז'רגון. בלי למהר. איפה שאתם נמצאים.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6647" y="4206240"/>
            <a:ext cx="3108960" cy="1188720"/>
          </a:xfrm>
          <a:prstGeom prst="roundRect">
            <a:avLst>
              <a:gd name="adj" fmla="val 12000"/>
            </a:avLst>
          </a:prstGeom>
          <a:solidFill>
            <a:srgbClr val="0B223D"/>
          </a:solidFill>
          <a:ln w="19050">
            <a:solidFill>
              <a:srgbClr val="3D9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800" b="1">
                <a:solidFill>
                  <a:srgbClr val="FFFFFF"/>
                </a:solidFill>
                <a:latin typeface="Rubik"/>
              </a:rPr>
              <a:t>סבלנות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41367" y="4206240"/>
            <a:ext cx="3108960" cy="1188720"/>
          </a:xfrm>
          <a:prstGeom prst="roundRect">
            <a:avLst>
              <a:gd name="adj" fmla="val 12000"/>
            </a:avLst>
          </a:prstGeom>
          <a:solidFill>
            <a:srgbClr val="0B223D"/>
          </a:solidFill>
          <a:ln w="19050">
            <a:solidFill>
              <a:srgbClr val="3D9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800" b="1">
                <a:solidFill>
                  <a:srgbClr val="FFFFFF"/>
                </a:solidFill>
                <a:latin typeface="Rubik"/>
              </a:rPr>
              <a:t>כבוד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16087" y="4206240"/>
            <a:ext cx="3108960" cy="1188720"/>
          </a:xfrm>
          <a:prstGeom prst="roundRect">
            <a:avLst>
              <a:gd name="adj" fmla="val 12000"/>
            </a:avLst>
          </a:prstGeom>
          <a:solidFill>
            <a:srgbClr val="0B223D"/>
          </a:solidFill>
          <a:ln w="19050">
            <a:solidFill>
              <a:srgbClr val="3D9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800" b="1">
                <a:solidFill>
                  <a:srgbClr val="FFFFFF"/>
                </a:solidFill>
                <a:latin typeface="Rubik"/>
              </a:rPr>
              <a:t>הקשבה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4000" b="1" i="0">
                <a:solidFill>
                  <a:srgbClr val="0F2E52"/>
                </a:solidFill>
                <a:latin typeface="Rubik"/>
              </a:rPr>
              <a:t>בואו נתחיל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2200" b="0" i="0">
                <a:solidFill>
                  <a:srgbClr val="6A6D70"/>
                </a:solidFill>
                <a:latin typeface="Rubik"/>
              </a:rPr>
              <a:t>שיחת היכרות קצרה וללא התחייבות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84248" y="2514600"/>
            <a:ext cx="8229600" cy="292608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E4EA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41848" y="2788920"/>
            <a:ext cx="914400" cy="914400"/>
          </a:xfrm>
          <a:prstGeom prst="ellipse">
            <a:avLst/>
          </a:prstGeom>
          <a:solidFill>
            <a:srgbClr val="EA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800"/>
              <a:t>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41448" y="3794760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rtl="1"/>
            <a:r>
              <a:rPr sz="2200" b="1" i="0">
                <a:solidFill>
                  <a:srgbClr val="121213"/>
                </a:solidFill>
                <a:latin typeface="Rubik"/>
              </a:rPr>
              <a:t>דנה קוניק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41448" y="4251960"/>
            <a:ext cx="7315200" cy="5943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3600" b="1">
                <a:solidFill>
                  <a:srgbClr val="0F2E52"/>
                </a:solidFill>
                <a:latin typeface="Heebo"/>
              </a:rPr>
              <a:t>053-700-4934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41448" y="4892040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rtl="1"/>
            <a:r>
              <a:rPr sz="1800" b="0" i="0">
                <a:solidFill>
                  <a:srgbClr val="6A6D70"/>
                </a:solidFill>
                <a:latin typeface="Rubik"/>
              </a:rPr>
              <a:t>בטלפון או בוואטסאפ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E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60720" y="2148840"/>
            <a:ext cx="127000" cy="203200"/>
          </a:xfrm>
          <a:prstGeom prst="roundRect">
            <a:avLst>
              <a:gd name="adj" fmla="val 30000"/>
            </a:avLst>
          </a:prstGeom>
          <a:solidFill>
            <a:srgbClr val="9CC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38520" y="2034540"/>
            <a:ext cx="127000" cy="317500"/>
          </a:xfrm>
          <a:prstGeom prst="roundRect">
            <a:avLst>
              <a:gd name="adj" fmla="val 30000"/>
            </a:avLst>
          </a:prstGeom>
          <a:solidFill>
            <a:srgbClr val="3D9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16320" y="1920240"/>
            <a:ext cx="127000" cy="4318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360152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rtl="1"/>
            <a:r>
              <a:rPr sz="5600" b="1" i="0">
                <a:solidFill>
                  <a:srgbClr val="FFFFFF"/>
                </a:solidFill>
                <a:latin typeface="Rubik"/>
              </a:rPr>
              <a:t>תודה!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43400"/>
            <a:ext cx="9445752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rtl="1"/>
            <a:r>
              <a:rPr sz="2200" b="0" i="0">
                <a:solidFill>
                  <a:srgbClr val="9CC7F5"/>
                </a:solidFill>
                <a:latin typeface="Rubik"/>
              </a:rPr>
              <a:t>טק בגובה העיניים · דנה קוניק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